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2" r:id="rId4"/>
    <p:sldId id="259" r:id="rId5"/>
    <p:sldId id="261" r:id="rId6"/>
    <p:sldId id="264" r:id="rId7"/>
    <p:sldId id="263" r:id="rId8"/>
    <p:sldId id="280" r:id="rId9"/>
    <p:sldId id="281" r:id="rId10"/>
    <p:sldId id="260" r:id="rId11"/>
    <p:sldId id="282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83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01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4958F8-9429-4932-A730-EB77C10B6F69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F25990-C0C6-4858-BCBD-0ACC9C53366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</a:t>
          </a:r>
        </a:p>
      </dgm:t>
    </dgm:pt>
    <dgm:pt modelId="{94AA2CE0-4D57-4FF7-8F29-14718C77001A}" type="parTrans" cxnId="{B3A0BEE6-4D7A-44DF-A00B-C7A4DE28A3EF}">
      <dgm:prSet/>
      <dgm:spPr/>
      <dgm:t>
        <a:bodyPr/>
        <a:lstStyle/>
        <a:p>
          <a:endParaRPr lang="en-US"/>
        </a:p>
      </dgm:t>
    </dgm:pt>
    <dgm:pt modelId="{77A1A0D0-65C9-49F3-9332-E32C6F7B1142}" type="sibTrans" cxnId="{B3A0BEE6-4D7A-44DF-A00B-C7A4DE28A3EF}">
      <dgm:prSet/>
      <dgm:spPr/>
      <dgm:t>
        <a:bodyPr/>
        <a:lstStyle/>
        <a:p>
          <a:endParaRPr lang="en-US"/>
        </a:p>
      </dgm:t>
    </dgm:pt>
    <dgm:pt modelId="{CA9B7E71-66C3-480F-A506-9DC68CB0497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Design Methodology</a:t>
          </a:r>
        </a:p>
      </dgm:t>
    </dgm:pt>
    <dgm:pt modelId="{978772C1-7825-4E29-AF28-CA5578488395}" type="parTrans" cxnId="{4164CBDE-3021-48C2-8B40-4FE6B264B5CB}">
      <dgm:prSet/>
      <dgm:spPr/>
      <dgm:t>
        <a:bodyPr/>
        <a:lstStyle/>
        <a:p>
          <a:endParaRPr lang="en-US"/>
        </a:p>
      </dgm:t>
    </dgm:pt>
    <dgm:pt modelId="{B220CEA9-0ECA-490D-8560-BB8A3E979B86}" type="sibTrans" cxnId="{4164CBDE-3021-48C2-8B40-4FE6B264B5CB}">
      <dgm:prSet/>
      <dgm:spPr/>
      <dgm:t>
        <a:bodyPr/>
        <a:lstStyle/>
        <a:p>
          <a:endParaRPr lang="en-US"/>
        </a:p>
      </dgm:t>
    </dgm:pt>
    <dgm:pt modelId="{025DA22C-3D9C-4FB7-A9F4-533375E6B8F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Design Challenges</a:t>
          </a:r>
        </a:p>
      </dgm:t>
    </dgm:pt>
    <dgm:pt modelId="{91CD0687-D36C-4814-9C5A-24B3690EE9E5}" type="parTrans" cxnId="{E85F45C3-09AC-4540-92DE-8ADF95AF0F74}">
      <dgm:prSet/>
      <dgm:spPr/>
      <dgm:t>
        <a:bodyPr/>
        <a:lstStyle/>
        <a:p>
          <a:endParaRPr lang="en-US"/>
        </a:p>
      </dgm:t>
    </dgm:pt>
    <dgm:pt modelId="{9B0B1294-E092-4CFF-8EE6-1E9F732E9C6C}" type="sibTrans" cxnId="{E85F45C3-09AC-4540-92DE-8ADF95AF0F74}">
      <dgm:prSet/>
      <dgm:spPr/>
      <dgm:t>
        <a:bodyPr/>
        <a:lstStyle/>
        <a:p>
          <a:endParaRPr lang="en-US"/>
        </a:p>
      </dgm:t>
    </dgm:pt>
    <dgm:pt modelId="{2AC68185-89AA-4D5C-B7E8-5DEC4CE20EB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Design Specs</a:t>
          </a:r>
        </a:p>
      </dgm:t>
    </dgm:pt>
    <dgm:pt modelId="{6D97AF91-1D92-49A1-A120-196ADDDA3BE3}" type="parTrans" cxnId="{C99F86C1-2760-47CC-8EBE-1B3F2D403A2A}">
      <dgm:prSet/>
      <dgm:spPr/>
      <dgm:t>
        <a:bodyPr/>
        <a:lstStyle/>
        <a:p>
          <a:endParaRPr lang="en-US"/>
        </a:p>
      </dgm:t>
    </dgm:pt>
    <dgm:pt modelId="{D6925D69-B0B9-4041-88DD-B39F422BA00D}" type="sibTrans" cxnId="{C99F86C1-2760-47CC-8EBE-1B3F2D403A2A}">
      <dgm:prSet/>
      <dgm:spPr/>
      <dgm:t>
        <a:bodyPr/>
        <a:lstStyle/>
        <a:p>
          <a:endParaRPr lang="en-US"/>
        </a:p>
      </dgm:t>
    </dgm:pt>
    <dgm:pt modelId="{A5461005-4572-433A-8ED0-918AF8C73D0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Simulation Results</a:t>
          </a:r>
        </a:p>
      </dgm:t>
    </dgm:pt>
    <dgm:pt modelId="{6994FBAE-0546-4572-AA3C-DD19E164C844}" type="parTrans" cxnId="{E31789A2-9E04-4C7D-871F-8B7607156A42}">
      <dgm:prSet/>
      <dgm:spPr/>
      <dgm:t>
        <a:bodyPr/>
        <a:lstStyle/>
        <a:p>
          <a:endParaRPr lang="en-US"/>
        </a:p>
      </dgm:t>
    </dgm:pt>
    <dgm:pt modelId="{3E67698F-B5C2-4864-9582-23E36D3B82AC}" type="sibTrans" cxnId="{E31789A2-9E04-4C7D-871F-8B7607156A42}">
      <dgm:prSet/>
      <dgm:spPr/>
      <dgm:t>
        <a:bodyPr/>
        <a:lstStyle/>
        <a:p>
          <a:endParaRPr lang="en-US"/>
        </a:p>
      </dgm:t>
    </dgm:pt>
    <dgm:pt modelId="{5E2E1D68-8FCF-4617-B11B-D0B0FBED7DD5}" type="pres">
      <dgm:prSet presAssocID="{564958F8-9429-4932-A730-EB77C10B6F6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683B7F2-25EC-4829-AB44-3042056FBF3D}" type="pres">
      <dgm:prSet presAssocID="{6CF25990-C0C6-4858-BCBD-0ACC9C533667}" presName="hierRoot1" presStyleCnt="0"/>
      <dgm:spPr/>
    </dgm:pt>
    <dgm:pt modelId="{CC290488-84C9-4354-98E4-F6D221198DA9}" type="pres">
      <dgm:prSet presAssocID="{6CF25990-C0C6-4858-BCBD-0ACC9C533667}" presName="composite" presStyleCnt="0"/>
      <dgm:spPr/>
    </dgm:pt>
    <dgm:pt modelId="{7B908ECB-D665-4EA9-A68B-7C744463E8AD}" type="pres">
      <dgm:prSet presAssocID="{6CF25990-C0C6-4858-BCBD-0ACC9C533667}" presName="background" presStyleLbl="node0" presStyleIdx="0" presStyleCnt="5"/>
      <dgm:spPr/>
    </dgm:pt>
    <dgm:pt modelId="{F134FCA6-D1AD-45FE-82D7-33EC6583DFCA}" type="pres">
      <dgm:prSet presAssocID="{6CF25990-C0C6-4858-BCBD-0ACC9C533667}" presName="text" presStyleLbl="fgAcc0" presStyleIdx="0" presStyleCnt="5" custLinFactNeighborX="-3370" custLinFactNeighborY="-4913">
        <dgm:presLayoutVars>
          <dgm:chPref val="3"/>
        </dgm:presLayoutVars>
      </dgm:prSet>
      <dgm:spPr/>
    </dgm:pt>
    <dgm:pt modelId="{EE61506F-5969-40E7-92E3-099734B96D1E}" type="pres">
      <dgm:prSet presAssocID="{6CF25990-C0C6-4858-BCBD-0ACC9C533667}" presName="hierChild2" presStyleCnt="0"/>
      <dgm:spPr/>
    </dgm:pt>
    <dgm:pt modelId="{15F2177E-A774-4D04-8C4D-66FCCB61C475}" type="pres">
      <dgm:prSet presAssocID="{2AC68185-89AA-4D5C-B7E8-5DEC4CE20EBC}" presName="hierRoot1" presStyleCnt="0"/>
      <dgm:spPr/>
    </dgm:pt>
    <dgm:pt modelId="{9CBB2162-48BE-4BED-AD58-973D7FD7739C}" type="pres">
      <dgm:prSet presAssocID="{2AC68185-89AA-4D5C-B7E8-5DEC4CE20EBC}" presName="composite" presStyleCnt="0"/>
      <dgm:spPr/>
    </dgm:pt>
    <dgm:pt modelId="{9636B8EE-72EB-4C40-9A94-BBA9B2807447}" type="pres">
      <dgm:prSet presAssocID="{2AC68185-89AA-4D5C-B7E8-5DEC4CE20EBC}" presName="background" presStyleLbl="node0" presStyleIdx="1" presStyleCnt="5"/>
      <dgm:spPr/>
    </dgm:pt>
    <dgm:pt modelId="{E9A822DD-FED4-4F91-B4A4-A625E1A50190}" type="pres">
      <dgm:prSet presAssocID="{2AC68185-89AA-4D5C-B7E8-5DEC4CE20EBC}" presName="text" presStyleLbl="fgAcc0" presStyleIdx="1" presStyleCnt="5">
        <dgm:presLayoutVars>
          <dgm:chPref val="3"/>
        </dgm:presLayoutVars>
      </dgm:prSet>
      <dgm:spPr/>
    </dgm:pt>
    <dgm:pt modelId="{E14CE545-6229-403F-A0D7-075A39B8BB05}" type="pres">
      <dgm:prSet presAssocID="{2AC68185-89AA-4D5C-B7E8-5DEC4CE20EBC}" presName="hierChild2" presStyleCnt="0"/>
      <dgm:spPr/>
    </dgm:pt>
    <dgm:pt modelId="{3A670FA5-E871-474C-8FED-69206FB76203}" type="pres">
      <dgm:prSet presAssocID="{CA9B7E71-66C3-480F-A506-9DC68CB04979}" presName="hierRoot1" presStyleCnt="0"/>
      <dgm:spPr/>
    </dgm:pt>
    <dgm:pt modelId="{A588A00F-40A6-40FC-B756-109DED0FC6A6}" type="pres">
      <dgm:prSet presAssocID="{CA9B7E71-66C3-480F-A506-9DC68CB04979}" presName="composite" presStyleCnt="0"/>
      <dgm:spPr/>
    </dgm:pt>
    <dgm:pt modelId="{D7766030-E195-406F-997B-6F3439D9FFF6}" type="pres">
      <dgm:prSet presAssocID="{CA9B7E71-66C3-480F-A506-9DC68CB04979}" presName="background" presStyleLbl="node0" presStyleIdx="2" presStyleCnt="5"/>
      <dgm:spPr/>
    </dgm:pt>
    <dgm:pt modelId="{C1657B02-4CB8-4019-B9EF-C18CA21BF206}" type="pres">
      <dgm:prSet presAssocID="{CA9B7E71-66C3-480F-A506-9DC68CB04979}" presName="text" presStyleLbl="fgAcc0" presStyleIdx="2" presStyleCnt="5">
        <dgm:presLayoutVars>
          <dgm:chPref val="3"/>
        </dgm:presLayoutVars>
      </dgm:prSet>
      <dgm:spPr/>
    </dgm:pt>
    <dgm:pt modelId="{D988D9BB-A48B-4D05-B63A-84B9978072B6}" type="pres">
      <dgm:prSet presAssocID="{CA9B7E71-66C3-480F-A506-9DC68CB04979}" presName="hierChild2" presStyleCnt="0"/>
      <dgm:spPr/>
    </dgm:pt>
    <dgm:pt modelId="{875A4127-B7E5-47A1-8A62-49671C5A46C6}" type="pres">
      <dgm:prSet presAssocID="{025DA22C-3D9C-4FB7-A9F4-533375E6B8F6}" presName="hierRoot1" presStyleCnt="0"/>
      <dgm:spPr/>
    </dgm:pt>
    <dgm:pt modelId="{FA353E9D-FA14-436E-B246-0449B5D6EB98}" type="pres">
      <dgm:prSet presAssocID="{025DA22C-3D9C-4FB7-A9F4-533375E6B8F6}" presName="composite" presStyleCnt="0"/>
      <dgm:spPr/>
    </dgm:pt>
    <dgm:pt modelId="{40242ED1-BE53-4461-94E4-599BA8972D2B}" type="pres">
      <dgm:prSet presAssocID="{025DA22C-3D9C-4FB7-A9F4-533375E6B8F6}" presName="background" presStyleLbl="node0" presStyleIdx="3" presStyleCnt="5"/>
      <dgm:spPr/>
    </dgm:pt>
    <dgm:pt modelId="{97893549-66C4-4EFB-A6DC-B8223E69E24D}" type="pres">
      <dgm:prSet presAssocID="{025DA22C-3D9C-4FB7-A9F4-533375E6B8F6}" presName="text" presStyleLbl="fgAcc0" presStyleIdx="3" presStyleCnt="5">
        <dgm:presLayoutVars>
          <dgm:chPref val="3"/>
        </dgm:presLayoutVars>
      </dgm:prSet>
      <dgm:spPr/>
    </dgm:pt>
    <dgm:pt modelId="{B938DD8B-8DBB-4265-A813-E9F79307FF01}" type="pres">
      <dgm:prSet presAssocID="{025DA22C-3D9C-4FB7-A9F4-533375E6B8F6}" presName="hierChild2" presStyleCnt="0"/>
      <dgm:spPr/>
    </dgm:pt>
    <dgm:pt modelId="{99F81DCE-FDE0-4BC1-A143-BA17B382FD95}" type="pres">
      <dgm:prSet presAssocID="{A5461005-4572-433A-8ED0-918AF8C73D05}" presName="hierRoot1" presStyleCnt="0"/>
      <dgm:spPr/>
    </dgm:pt>
    <dgm:pt modelId="{3A960137-AEF9-447A-9857-D684ED072073}" type="pres">
      <dgm:prSet presAssocID="{A5461005-4572-433A-8ED0-918AF8C73D05}" presName="composite" presStyleCnt="0"/>
      <dgm:spPr/>
    </dgm:pt>
    <dgm:pt modelId="{5F06E077-19FD-426E-B8E8-0CF581A88CB4}" type="pres">
      <dgm:prSet presAssocID="{A5461005-4572-433A-8ED0-918AF8C73D05}" presName="background" presStyleLbl="node0" presStyleIdx="4" presStyleCnt="5"/>
      <dgm:spPr/>
    </dgm:pt>
    <dgm:pt modelId="{F3C197BF-9EBE-47A0-827E-7AAD4534CE3D}" type="pres">
      <dgm:prSet presAssocID="{A5461005-4572-433A-8ED0-918AF8C73D05}" presName="text" presStyleLbl="fgAcc0" presStyleIdx="4" presStyleCnt="5">
        <dgm:presLayoutVars>
          <dgm:chPref val="3"/>
        </dgm:presLayoutVars>
      </dgm:prSet>
      <dgm:spPr/>
    </dgm:pt>
    <dgm:pt modelId="{DD1091BF-F0FF-4166-8135-8E8544A279FE}" type="pres">
      <dgm:prSet presAssocID="{A5461005-4572-433A-8ED0-918AF8C73D05}" presName="hierChild2" presStyleCnt="0"/>
      <dgm:spPr/>
    </dgm:pt>
  </dgm:ptLst>
  <dgm:cxnLst>
    <dgm:cxn modelId="{CB51BA15-336B-4014-A990-9B115031F7FE}" type="presOf" srcId="{A5461005-4572-433A-8ED0-918AF8C73D05}" destId="{F3C197BF-9EBE-47A0-827E-7AAD4534CE3D}" srcOrd="0" destOrd="0" presId="urn:microsoft.com/office/officeart/2005/8/layout/hierarchy1"/>
    <dgm:cxn modelId="{5DB60C17-0D26-4D7E-8810-058BA31DA1FE}" type="presOf" srcId="{025DA22C-3D9C-4FB7-A9F4-533375E6B8F6}" destId="{97893549-66C4-4EFB-A6DC-B8223E69E24D}" srcOrd="0" destOrd="0" presId="urn:microsoft.com/office/officeart/2005/8/layout/hierarchy1"/>
    <dgm:cxn modelId="{503ADF5E-CC2B-4132-9455-ABE8532DA748}" type="presOf" srcId="{CA9B7E71-66C3-480F-A506-9DC68CB04979}" destId="{C1657B02-4CB8-4019-B9EF-C18CA21BF206}" srcOrd="0" destOrd="0" presId="urn:microsoft.com/office/officeart/2005/8/layout/hierarchy1"/>
    <dgm:cxn modelId="{566EF069-5711-4EA9-AC4C-D33C9F8C7A9C}" type="presOf" srcId="{6CF25990-C0C6-4858-BCBD-0ACC9C533667}" destId="{F134FCA6-D1AD-45FE-82D7-33EC6583DFCA}" srcOrd="0" destOrd="0" presId="urn:microsoft.com/office/officeart/2005/8/layout/hierarchy1"/>
    <dgm:cxn modelId="{E31789A2-9E04-4C7D-871F-8B7607156A42}" srcId="{564958F8-9429-4932-A730-EB77C10B6F69}" destId="{A5461005-4572-433A-8ED0-918AF8C73D05}" srcOrd="4" destOrd="0" parTransId="{6994FBAE-0546-4572-AA3C-DD19E164C844}" sibTransId="{3E67698F-B5C2-4864-9582-23E36D3B82AC}"/>
    <dgm:cxn modelId="{C99F86C1-2760-47CC-8EBE-1B3F2D403A2A}" srcId="{564958F8-9429-4932-A730-EB77C10B6F69}" destId="{2AC68185-89AA-4D5C-B7E8-5DEC4CE20EBC}" srcOrd="1" destOrd="0" parTransId="{6D97AF91-1D92-49A1-A120-196ADDDA3BE3}" sibTransId="{D6925D69-B0B9-4041-88DD-B39F422BA00D}"/>
    <dgm:cxn modelId="{E85F45C3-09AC-4540-92DE-8ADF95AF0F74}" srcId="{564958F8-9429-4932-A730-EB77C10B6F69}" destId="{025DA22C-3D9C-4FB7-A9F4-533375E6B8F6}" srcOrd="3" destOrd="0" parTransId="{91CD0687-D36C-4814-9C5A-24B3690EE9E5}" sibTransId="{9B0B1294-E092-4CFF-8EE6-1E9F732E9C6C}"/>
    <dgm:cxn modelId="{56B59CC4-5679-4F25-B502-6EFFDE929539}" type="presOf" srcId="{564958F8-9429-4932-A730-EB77C10B6F69}" destId="{5E2E1D68-8FCF-4617-B11B-D0B0FBED7DD5}" srcOrd="0" destOrd="0" presId="urn:microsoft.com/office/officeart/2005/8/layout/hierarchy1"/>
    <dgm:cxn modelId="{4164CBDE-3021-48C2-8B40-4FE6B264B5CB}" srcId="{564958F8-9429-4932-A730-EB77C10B6F69}" destId="{CA9B7E71-66C3-480F-A506-9DC68CB04979}" srcOrd="2" destOrd="0" parTransId="{978772C1-7825-4E29-AF28-CA5578488395}" sibTransId="{B220CEA9-0ECA-490D-8560-BB8A3E979B86}"/>
    <dgm:cxn modelId="{B3A0BEE6-4D7A-44DF-A00B-C7A4DE28A3EF}" srcId="{564958F8-9429-4932-A730-EB77C10B6F69}" destId="{6CF25990-C0C6-4858-BCBD-0ACC9C533667}" srcOrd="0" destOrd="0" parTransId="{94AA2CE0-4D57-4FF7-8F29-14718C77001A}" sibTransId="{77A1A0D0-65C9-49F3-9332-E32C6F7B1142}"/>
    <dgm:cxn modelId="{B1B10AFA-0DD7-4994-8523-8959427A56E4}" type="presOf" srcId="{2AC68185-89AA-4D5C-B7E8-5DEC4CE20EBC}" destId="{E9A822DD-FED4-4F91-B4A4-A625E1A50190}" srcOrd="0" destOrd="0" presId="urn:microsoft.com/office/officeart/2005/8/layout/hierarchy1"/>
    <dgm:cxn modelId="{8C94DB5C-EA26-4A23-93E4-DFF6BD1A8D48}" type="presParOf" srcId="{5E2E1D68-8FCF-4617-B11B-D0B0FBED7DD5}" destId="{0683B7F2-25EC-4829-AB44-3042056FBF3D}" srcOrd="0" destOrd="0" presId="urn:microsoft.com/office/officeart/2005/8/layout/hierarchy1"/>
    <dgm:cxn modelId="{D40C46C1-BDD0-451D-849E-FEE8DB2E0206}" type="presParOf" srcId="{0683B7F2-25EC-4829-AB44-3042056FBF3D}" destId="{CC290488-84C9-4354-98E4-F6D221198DA9}" srcOrd="0" destOrd="0" presId="urn:microsoft.com/office/officeart/2005/8/layout/hierarchy1"/>
    <dgm:cxn modelId="{F602E938-DC0B-4994-AD29-0DD76EB0343D}" type="presParOf" srcId="{CC290488-84C9-4354-98E4-F6D221198DA9}" destId="{7B908ECB-D665-4EA9-A68B-7C744463E8AD}" srcOrd="0" destOrd="0" presId="urn:microsoft.com/office/officeart/2005/8/layout/hierarchy1"/>
    <dgm:cxn modelId="{D297E11A-774D-46DC-83F3-1E2D357D35D2}" type="presParOf" srcId="{CC290488-84C9-4354-98E4-F6D221198DA9}" destId="{F134FCA6-D1AD-45FE-82D7-33EC6583DFCA}" srcOrd="1" destOrd="0" presId="urn:microsoft.com/office/officeart/2005/8/layout/hierarchy1"/>
    <dgm:cxn modelId="{801090F3-B78E-4331-B44E-B3E35547DC49}" type="presParOf" srcId="{0683B7F2-25EC-4829-AB44-3042056FBF3D}" destId="{EE61506F-5969-40E7-92E3-099734B96D1E}" srcOrd="1" destOrd="0" presId="urn:microsoft.com/office/officeart/2005/8/layout/hierarchy1"/>
    <dgm:cxn modelId="{8DE489AD-7390-4062-A159-33872F382C05}" type="presParOf" srcId="{5E2E1D68-8FCF-4617-B11B-D0B0FBED7DD5}" destId="{15F2177E-A774-4D04-8C4D-66FCCB61C475}" srcOrd="1" destOrd="0" presId="urn:microsoft.com/office/officeart/2005/8/layout/hierarchy1"/>
    <dgm:cxn modelId="{87A2AAD2-A7BC-4411-AB4C-FECF240B823C}" type="presParOf" srcId="{15F2177E-A774-4D04-8C4D-66FCCB61C475}" destId="{9CBB2162-48BE-4BED-AD58-973D7FD7739C}" srcOrd="0" destOrd="0" presId="urn:microsoft.com/office/officeart/2005/8/layout/hierarchy1"/>
    <dgm:cxn modelId="{F7B48E71-B95D-49E9-824D-F55D4A4963F1}" type="presParOf" srcId="{9CBB2162-48BE-4BED-AD58-973D7FD7739C}" destId="{9636B8EE-72EB-4C40-9A94-BBA9B2807447}" srcOrd="0" destOrd="0" presId="urn:microsoft.com/office/officeart/2005/8/layout/hierarchy1"/>
    <dgm:cxn modelId="{5CCDDD54-A687-4B43-9ACE-4EC7CE74F760}" type="presParOf" srcId="{9CBB2162-48BE-4BED-AD58-973D7FD7739C}" destId="{E9A822DD-FED4-4F91-B4A4-A625E1A50190}" srcOrd="1" destOrd="0" presId="urn:microsoft.com/office/officeart/2005/8/layout/hierarchy1"/>
    <dgm:cxn modelId="{EDD6C612-0FAA-43BF-91BC-633F40016A41}" type="presParOf" srcId="{15F2177E-A774-4D04-8C4D-66FCCB61C475}" destId="{E14CE545-6229-403F-A0D7-075A39B8BB05}" srcOrd="1" destOrd="0" presId="urn:microsoft.com/office/officeart/2005/8/layout/hierarchy1"/>
    <dgm:cxn modelId="{787F7C6B-DF7A-40BD-B7D0-059D85962924}" type="presParOf" srcId="{5E2E1D68-8FCF-4617-B11B-D0B0FBED7DD5}" destId="{3A670FA5-E871-474C-8FED-69206FB76203}" srcOrd="2" destOrd="0" presId="urn:microsoft.com/office/officeart/2005/8/layout/hierarchy1"/>
    <dgm:cxn modelId="{84FE2F40-2DC7-4584-92E5-389D3CD45D08}" type="presParOf" srcId="{3A670FA5-E871-474C-8FED-69206FB76203}" destId="{A588A00F-40A6-40FC-B756-109DED0FC6A6}" srcOrd="0" destOrd="0" presId="urn:microsoft.com/office/officeart/2005/8/layout/hierarchy1"/>
    <dgm:cxn modelId="{5EE63F8F-DE53-414E-AD20-FC125871BD3C}" type="presParOf" srcId="{A588A00F-40A6-40FC-B756-109DED0FC6A6}" destId="{D7766030-E195-406F-997B-6F3439D9FFF6}" srcOrd="0" destOrd="0" presId="urn:microsoft.com/office/officeart/2005/8/layout/hierarchy1"/>
    <dgm:cxn modelId="{D2633DDD-B388-4A2F-8C71-B25CF4559016}" type="presParOf" srcId="{A588A00F-40A6-40FC-B756-109DED0FC6A6}" destId="{C1657B02-4CB8-4019-B9EF-C18CA21BF206}" srcOrd="1" destOrd="0" presId="urn:microsoft.com/office/officeart/2005/8/layout/hierarchy1"/>
    <dgm:cxn modelId="{708C3E1B-B2AB-43DE-8DEA-BF2F4DE438A6}" type="presParOf" srcId="{3A670FA5-E871-474C-8FED-69206FB76203}" destId="{D988D9BB-A48B-4D05-B63A-84B9978072B6}" srcOrd="1" destOrd="0" presId="urn:microsoft.com/office/officeart/2005/8/layout/hierarchy1"/>
    <dgm:cxn modelId="{DE91C397-8D0A-4E9D-87FA-4F84288B6719}" type="presParOf" srcId="{5E2E1D68-8FCF-4617-B11B-D0B0FBED7DD5}" destId="{875A4127-B7E5-47A1-8A62-49671C5A46C6}" srcOrd="3" destOrd="0" presId="urn:microsoft.com/office/officeart/2005/8/layout/hierarchy1"/>
    <dgm:cxn modelId="{BE60FAE8-6CFC-4EEA-87B9-BBFD0564EBBC}" type="presParOf" srcId="{875A4127-B7E5-47A1-8A62-49671C5A46C6}" destId="{FA353E9D-FA14-436E-B246-0449B5D6EB98}" srcOrd="0" destOrd="0" presId="urn:microsoft.com/office/officeart/2005/8/layout/hierarchy1"/>
    <dgm:cxn modelId="{0FC7EE34-1604-4E9B-9320-D42B3460E8B4}" type="presParOf" srcId="{FA353E9D-FA14-436E-B246-0449B5D6EB98}" destId="{40242ED1-BE53-4461-94E4-599BA8972D2B}" srcOrd="0" destOrd="0" presId="urn:microsoft.com/office/officeart/2005/8/layout/hierarchy1"/>
    <dgm:cxn modelId="{4790171F-9D81-48E0-BFA6-C934D9EF8F58}" type="presParOf" srcId="{FA353E9D-FA14-436E-B246-0449B5D6EB98}" destId="{97893549-66C4-4EFB-A6DC-B8223E69E24D}" srcOrd="1" destOrd="0" presId="urn:microsoft.com/office/officeart/2005/8/layout/hierarchy1"/>
    <dgm:cxn modelId="{3176270A-7A86-49C2-AF5F-E16EDAF02FA0}" type="presParOf" srcId="{875A4127-B7E5-47A1-8A62-49671C5A46C6}" destId="{B938DD8B-8DBB-4265-A813-E9F79307FF01}" srcOrd="1" destOrd="0" presId="urn:microsoft.com/office/officeart/2005/8/layout/hierarchy1"/>
    <dgm:cxn modelId="{C0454C2F-05B9-42D9-8A0B-1E7AB489A9DF}" type="presParOf" srcId="{5E2E1D68-8FCF-4617-B11B-D0B0FBED7DD5}" destId="{99F81DCE-FDE0-4BC1-A143-BA17B382FD95}" srcOrd="4" destOrd="0" presId="urn:microsoft.com/office/officeart/2005/8/layout/hierarchy1"/>
    <dgm:cxn modelId="{44B68E12-07A9-450F-8B32-644BF4835078}" type="presParOf" srcId="{99F81DCE-FDE0-4BC1-A143-BA17B382FD95}" destId="{3A960137-AEF9-447A-9857-D684ED072073}" srcOrd="0" destOrd="0" presId="urn:microsoft.com/office/officeart/2005/8/layout/hierarchy1"/>
    <dgm:cxn modelId="{846F2DC4-251F-49A4-A568-83DBBDC510EC}" type="presParOf" srcId="{3A960137-AEF9-447A-9857-D684ED072073}" destId="{5F06E077-19FD-426E-B8E8-0CF581A88CB4}" srcOrd="0" destOrd="0" presId="urn:microsoft.com/office/officeart/2005/8/layout/hierarchy1"/>
    <dgm:cxn modelId="{C716C8C5-E72D-4512-82DC-7E38B1E4985F}" type="presParOf" srcId="{3A960137-AEF9-447A-9857-D684ED072073}" destId="{F3C197BF-9EBE-47A0-827E-7AAD4534CE3D}" srcOrd="1" destOrd="0" presId="urn:microsoft.com/office/officeart/2005/8/layout/hierarchy1"/>
    <dgm:cxn modelId="{B59137C2-70B1-4063-8D60-0CA597DDB3FF}" type="presParOf" srcId="{99F81DCE-FDE0-4BC1-A143-BA17B382FD95}" destId="{DD1091BF-F0FF-4166-8135-8E8544A279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908ECB-D665-4EA9-A68B-7C744463E8AD}">
      <dsp:nvSpPr>
        <dsp:cNvPr id="0" name=""/>
        <dsp:cNvSpPr/>
      </dsp:nvSpPr>
      <dsp:spPr>
        <a:xfrm>
          <a:off x="-57216" y="517954"/>
          <a:ext cx="1807898" cy="11480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134FCA6-D1AD-45FE-82D7-33EC6583DFCA}">
      <dsp:nvSpPr>
        <dsp:cNvPr id="0" name=""/>
        <dsp:cNvSpPr/>
      </dsp:nvSpPr>
      <dsp:spPr>
        <a:xfrm>
          <a:off x="143661" y="708788"/>
          <a:ext cx="1807898" cy="11480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</a:t>
          </a:r>
        </a:p>
      </dsp:txBody>
      <dsp:txXfrm>
        <a:off x="177285" y="742412"/>
        <a:ext cx="1740650" cy="1080767"/>
      </dsp:txXfrm>
    </dsp:sp>
    <dsp:sp modelId="{9636B8EE-72EB-4C40-9A94-BBA9B2807447}">
      <dsp:nvSpPr>
        <dsp:cNvPr id="0" name=""/>
        <dsp:cNvSpPr/>
      </dsp:nvSpPr>
      <dsp:spPr>
        <a:xfrm>
          <a:off x="2213364" y="574356"/>
          <a:ext cx="1807898" cy="11480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9A822DD-FED4-4F91-B4A4-A625E1A50190}">
      <dsp:nvSpPr>
        <dsp:cNvPr id="0" name=""/>
        <dsp:cNvSpPr/>
      </dsp:nvSpPr>
      <dsp:spPr>
        <a:xfrm>
          <a:off x="2414241" y="765190"/>
          <a:ext cx="1807898" cy="11480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Specs</a:t>
          </a:r>
        </a:p>
      </dsp:txBody>
      <dsp:txXfrm>
        <a:off x="2447865" y="798814"/>
        <a:ext cx="1740650" cy="1080767"/>
      </dsp:txXfrm>
    </dsp:sp>
    <dsp:sp modelId="{D7766030-E195-406F-997B-6F3439D9FFF6}">
      <dsp:nvSpPr>
        <dsp:cNvPr id="0" name=""/>
        <dsp:cNvSpPr/>
      </dsp:nvSpPr>
      <dsp:spPr>
        <a:xfrm>
          <a:off x="4423018" y="574356"/>
          <a:ext cx="1807898" cy="11480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1657B02-4CB8-4019-B9EF-C18CA21BF206}">
      <dsp:nvSpPr>
        <dsp:cNvPr id="0" name=""/>
        <dsp:cNvSpPr/>
      </dsp:nvSpPr>
      <dsp:spPr>
        <a:xfrm>
          <a:off x="4623895" y="765190"/>
          <a:ext cx="1807898" cy="11480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Methodology</a:t>
          </a:r>
        </a:p>
      </dsp:txBody>
      <dsp:txXfrm>
        <a:off x="4657519" y="798814"/>
        <a:ext cx="1740650" cy="1080767"/>
      </dsp:txXfrm>
    </dsp:sp>
    <dsp:sp modelId="{40242ED1-BE53-4461-94E4-599BA8972D2B}">
      <dsp:nvSpPr>
        <dsp:cNvPr id="0" name=""/>
        <dsp:cNvSpPr/>
      </dsp:nvSpPr>
      <dsp:spPr>
        <a:xfrm>
          <a:off x="6632672" y="574356"/>
          <a:ext cx="1807898" cy="11480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7893549-66C4-4EFB-A6DC-B8223E69E24D}">
      <dsp:nvSpPr>
        <dsp:cNvPr id="0" name=""/>
        <dsp:cNvSpPr/>
      </dsp:nvSpPr>
      <dsp:spPr>
        <a:xfrm>
          <a:off x="6833550" y="765190"/>
          <a:ext cx="1807898" cy="11480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Challenges</a:t>
          </a:r>
        </a:p>
      </dsp:txBody>
      <dsp:txXfrm>
        <a:off x="6867174" y="798814"/>
        <a:ext cx="1740650" cy="1080767"/>
      </dsp:txXfrm>
    </dsp:sp>
    <dsp:sp modelId="{5F06E077-19FD-426E-B8E8-0CF581A88CB4}">
      <dsp:nvSpPr>
        <dsp:cNvPr id="0" name=""/>
        <dsp:cNvSpPr/>
      </dsp:nvSpPr>
      <dsp:spPr>
        <a:xfrm>
          <a:off x="8842326" y="574356"/>
          <a:ext cx="1807898" cy="11480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3C197BF-9EBE-47A0-827E-7AAD4534CE3D}">
      <dsp:nvSpPr>
        <dsp:cNvPr id="0" name=""/>
        <dsp:cNvSpPr/>
      </dsp:nvSpPr>
      <dsp:spPr>
        <a:xfrm>
          <a:off x="9043204" y="765190"/>
          <a:ext cx="1807898" cy="11480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Simulation Results</a:t>
          </a:r>
        </a:p>
      </dsp:txBody>
      <dsp:txXfrm>
        <a:off x="9076828" y="798814"/>
        <a:ext cx="1740650" cy="10807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36686-DB9C-484B-8D43-BEA19B285D0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32D13-568C-4110-A099-CB26158DC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2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32D13-568C-4110-A099-CB26158DC0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6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32D13-568C-4110-A099-CB26158DC0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2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32D13-568C-4110-A099-CB26158DC0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5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725B-1EEA-1A82-EC7E-031AD96F7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780FF-6A1B-A4B2-3415-E6829432F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64133-A758-43C3-BF1D-C8025456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087BC-D02E-B479-F555-A564A4BC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DFD42-7530-D5B9-C90D-FA1666FC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35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4E68-86FD-336E-1280-1F87ADB6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F0F59-D1FD-93E1-69BF-7B53CD206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E98FF-421A-A11F-509C-9C1EA0CD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806F-C3F3-5F2D-9B79-61F727BD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A1336-FA66-60BF-D5DE-AB56D17C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41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AB4C-42A9-E509-5BC7-991F9FF3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848CE-8B4A-6B45-9EF7-F5DD9DA30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E1975-DE26-C767-90C4-2251F04E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440D5-E25E-512C-7354-2C8691BF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91425-7D33-97A4-E76B-8DC988E8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19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B5D0-AA66-D930-FB6C-C60FE1C2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71D5F-A2A0-E774-C867-0A652FFF2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57E0D-2C63-6851-4F51-F2C35A063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00A5D-251D-34AA-074C-D81721FD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3CFFD-BA40-0114-037C-1CEA17296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AB518-465D-8659-D329-DA7372CD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F299-A463-D468-40D9-BC03E7352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9670B-09D8-8034-6F21-942E09898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B6E6A-A1CF-D1BB-68E8-54E7DBB13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E6BD5-F727-E895-A648-65917A137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27974-B621-BC7B-7675-EFA56F9F3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444DE-8B0F-50A9-1A62-85D3791E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8A204-150E-0B70-F7A7-DEB2B4C5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545B1-9081-58A2-E1CD-08E86D1C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52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70A94-D846-23D3-0B66-B0D3FEC0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F46768-B24D-62F0-71B2-2FDD67E1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1D57E-31C5-F647-1560-2FCF0EC85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2BE37-2540-D8A1-AAB4-3D8BBFED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7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B1E2D-971F-B57F-9A15-378D6F2D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BE4DD-58F6-D4EE-E5F2-6EA7C253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3829A-A6BD-4184-6441-461D7C6E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45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3566-190F-EC66-9F16-A6A2A9986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ABBEE-E38A-38B9-4AE3-4E0966BD7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47C3C-005C-EFAE-80BC-B4498958E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6E32C-E849-5447-6AEB-1F1A564C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A4ACE-4486-1CD3-7C82-94711F72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B1DD0-1E4C-FE69-857B-69CA14909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72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0F93-982F-1740-ABCC-2F5279183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49549-A10D-FF48-9890-7527226B1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5F3C3-75EE-826F-0452-3CBDFF38B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85683-C99C-CF0B-624F-F2F91229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17DE0-1057-BD6F-9E92-0EF7A66F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06BE0-7B6E-3805-66D1-73360CAF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04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854F-0747-DF37-1336-3548CA16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457C4-1A31-6A3F-0FB5-7870F18E6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1D2AD-18B7-7756-CA3D-782D09EA3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6E7CB-8805-67C8-A845-D698161B4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1634C-90F4-2AE6-E5F4-22C0F51E0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96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1435EF-99AD-34E5-6854-0E8548001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18E11-C51F-6BFC-5B5C-0507EFE20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656BE-5A7F-B47E-6D22-9E1CDA4E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76163-0C93-D1B6-1280-FF00C17D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8DD1C-95C8-8768-F54A-0DBD4807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74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9C749-C1EF-3F3A-20B8-ABF5C6BC0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F9E52-6710-0807-390A-7FC902BE8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CFA52-C43F-767E-2E4F-9282B53D7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30 September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42A75-18D2-1E69-BCEE-51E1748F7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C43A9-DBDF-1BFF-7580-B763E9960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1832F-0168-4D30-85FD-BD789EFC8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9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2EEF14-ACC8-05C4-0E37-50C68FFC88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CAEA2-342A-6B0E-C39D-D6A0F4C83CE1}"/>
              </a:ext>
            </a:extLst>
          </p:cNvPr>
          <p:cNvSpPr txBox="1"/>
          <p:nvPr/>
        </p:nvSpPr>
        <p:spPr>
          <a:xfrm>
            <a:off x="2652251" y="6780009"/>
            <a:ext cx="70841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Fast-Transient Low-Dropout Regulator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3A05D6-EE5A-A019-CC20-473232EF6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256" y="2599016"/>
            <a:ext cx="4577488" cy="165996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82CA4-73E2-526C-22A3-9B417B2F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8133B-5786-EF01-7DAA-8232FD43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D4AB6-1331-FC75-E833-952CDBF6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D8A8CD-15E4-0E7B-19FF-74DDB248F6A7}"/>
              </a:ext>
            </a:extLst>
          </p:cNvPr>
          <p:cNvSpPr txBox="1"/>
          <p:nvPr/>
        </p:nvSpPr>
        <p:spPr>
          <a:xfrm>
            <a:off x="2553929" y="2598003"/>
            <a:ext cx="708414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Bandgap Reference Circuit</a:t>
            </a: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Golden Volt Team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Mohamed Essam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Bilal Ramadan</a:t>
            </a:r>
          </a:p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Saad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Hazem Mostafa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FE9461-2034-5556-FEDD-2F6F1BE5C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A6063-93C4-2D21-9047-A60E04DD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32C6B-647B-E452-580D-C92AA212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7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BB0F-523E-7D42-DE18-77631A1A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3DD6C6-8CA5-8D58-C9CA-BFA7ED82919E}"/>
              </a:ext>
            </a:extLst>
          </p:cNvPr>
          <p:cNvSpPr txBox="1"/>
          <p:nvPr/>
        </p:nvSpPr>
        <p:spPr>
          <a:xfrm>
            <a:off x="2553929" y="398035"/>
            <a:ext cx="7084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4F0F3B-0756-BF96-E02C-E4409367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graphicFrame>
        <p:nvGraphicFramePr>
          <p:cNvPr id="7" name="TextBox 1">
            <a:extLst>
              <a:ext uri="{FF2B5EF4-FFF2-40B4-BE49-F238E27FC236}">
                <a16:creationId xmlns:a16="http://schemas.microsoft.com/office/drawing/2014/main" id="{FEAC3BBD-1D8D-8E97-62D0-1D296AB22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9557171"/>
              </p:ext>
            </p:extLst>
          </p:nvPr>
        </p:nvGraphicFramePr>
        <p:xfrm>
          <a:off x="668593" y="2185219"/>
          <a:ext cx="10854813" cy="2487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C9B91-E05C-D5F2-19E3-64F9F69A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30 September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45FC1-E82F-D2B6-C8E5-2FDD1C6A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36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4B8B-C132-4750-8611-05FA2F73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CFB6E2-2501-7BCC-8884-BDD450FDA447}"/>
              </a:ext>
            </a:extLst>
          </p:cNvPr>
          <p:cNvSpPr txBox="1"/>
          <p:nvPr/>
        </p:nvSpPr>
        <p:spPr>
          <a:xfrm>
            <a:off x="2696497" y="398035"/>
            <a:ext cx="7084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E87B5E-7504-5C64-39F7-0CBAF8A80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9E40E6-AA8D-BCC9-1860-ED716EDC48B1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0F620F7-78C6-1EB0-D644-38E6A90C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182CDE-2E81-4257-E7E8-C978BFF5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4</a:t>
            </a:fld>
            <a:endParaRPr lang="en-US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7E2BF21A-7CB5-F0BD-0A36-3B7270D7F5C7}"/>
              </a:ext>
            </a:extLst>
          </p:cNvPr>
          <p:cNvSpPr txBox="1">
            <a:spLocks/>
          </p:cNvSpPr>
          <p:nvPr/>
        </p:nvSpPr>
        <p:spPr>
          <a:xfrm>
            <a:off x="521709" y="2161803"/>
            <a:ext cx="10515600" cy="3618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BGR desired behavior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voltage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to PVT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area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startup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Trimming and calibration ability</a:t>
            </a:r>
          </a:p>
        </p:txBody>
      </p:sp>
    </p:spTree>
    <p:extLst>
      <p:ext uri="{BB962C8B-B14F-4D97-AF65-F5344CB8AC3E}">
        <p14:creationId xmlns:p14="http://schemas.microsoft.com/office/powerpoint/2010/main" val="7603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B951-AD92-58EB-4F71-544E3528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8E82A2-0656-17F7-4E1A-525E15C1C0E9}"/>
              </a:ext>
            </a:extLst>
          </p:cNvPr>
          <p:cNvSpPr txBox="1"/>
          <p:nvPr/>
        </p:nvSpPr>
        <p:spPr>
          <a:xfrm>
            <a:off x="2553929" y="398035"/>
            <a:ext cx="7084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Specs</a:t>
            </a:r>
            <a:endParaRPr 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CB2135-5C2C-01ED-033F-E584DC5499F2}"/>
              </a:ext>
            </a:extLst>
          </p:cNvPr>
          <p:cNvSpPr txBox="1"/>
          <p:nvPr/>
        </p:nvSpPr>
        <p:spPr>
          <a:xfrm>
            <a:off x="285135" y="1229032"/>
            <a:ext cx="7084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8822EC-71A0-C4B6-D3A4-AFF3EF175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BFDF09-6CA3-32DE-7253-D693D9B2F876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3/14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5806236-A802-1E20-FEDF-CA1E106109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2754600"/>
                  </p:ext>
                </p:extLst>
              </p:nvPr>
            </p:nvGraphicFramePr>
            <p:xfrm>
              <a:off x="1099128" y="1362648"/>
              <a:ext cx="9993744" cy="4335326"/>
            </p:xfrm>
            <a:graphic>
              <a:graphicData uri="http://schemas.openxmlformats.org/drawingml/2006/table">
                <a:tbl>
                  <a:tblPr firstRow="1" firstCol="1" lastRow="1" lastCol="1" bandRow="1" bandCol="1"/>
                  <a:tblGrid>
                    <a:gridCol w="2787138">
                      <a:extLst>
                        <a:ext uri="{9D8B030D-6E8A-4147-A177-3AD203B41FA5}">
                          <a16:colId xmlns:a16="http://schemas.microsoft.com/office/drawing/2014/main" val="94861951"/>
                        </a:ext>
                      </a:extLst>
                    </a:gridCol>
                    <a:gridCol w="1012728">
                      <a:extLst>
                        <a:ext uri="{9D8B030D-6E8A-4147-A177-3AD203B41FA5}">
                          <a16:colId xmlns:a16="http://schemas.microsoft.com/office/drawing/2014/main" val="384726690"/>
                        </a:ext>
                      </a:extLst>
                    </a:gridCol>
                    <a:gridCol w="597167">
                      <a:extLst>
                        <a:ext uri="{9D8B030D-6E8A-4147-A177-3AD203B41FA5}">
                          <a16:colId xmlns:a16="http://schemas.microsoft.com/office/drawing/2014/main" val="4226124615"/>
                        </a:ext>
                      </a:extLst>
                    </a:gridCol>
                    <a:gridCol w="551232">
                      <a:extLst>
                        <a:ext uri="{9D8B030D-6E8A-4147-A177-3AD203B41FA5}">
                          <a16:colId xmlns:a16="http://schemas.microsoft.com/office/drawing/2014/main" val="2881932615"/>
                        </a:ext>
                      </a:extLst>
                    </a:gridCol>
                    <a:gridCol w="564051">
                      <a:extLst>
                        <a:ext uri="{9D8B030D-6E8A-4147-A177-3AD203B41FA5}">
                          <a16:colId xmlns:a16="http://schemas.microsoft.com/office/drawing/2014/main" val="1677994399"/>
                        </a:ext>
                      </a:extLst>
                    </a:gridCol>
                    <a:gridCol w="738180">
                      <a:extLst>
                        <a:ext uri="{9D8B030D-6E8A-4147-A177-3AD203B41FA5}">
                          <a16:colId xmlns:a16="http://schemas.microsoft.com/office/drawing/2014/main" val="1104477893"/>
                        </a:ext>
                      </a:extLst>
                    </a:gridCol>
                    <a:gridCol w="3743248">
                      <a:extLst>
                        <a:ext uri="{9D8B030D-6E8A-4147-A177-3AD203B41FA5}">
                          <a16:colId xmlns:a16="http://schemas.microsoft.com/office/drawing/2014/main" val="2271310946"/>
                        </a:ext>
                      </a:extLst>
                    </a:gridCol>
                  </a:tblGrid>
                  <a:tr h="36021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Name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Specification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90494866"/>
                      </a:ext>
                    </a:extLst>
                  </a:tr>
                  <a:tr h="3337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Min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Typ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Units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Comments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7907688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Voltage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VDD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1.2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3.3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Wide range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9585243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Temperature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Temp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-40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14:m>
                            <m:oMath xmlns:m="http://schemas.openxmlformats.org/officeDocument/2006/math"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</m:oMath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462481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Output Voltage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𝑜𝑢𝑡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1529213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Line Regulation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𝑉𝑜𝑢𝑡</m:t>
                                </m:r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/∆</m:t>
                                </m:r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𝑉𝐷𝐷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1123414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Output Noise (10Hz – 10KHz)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𝑛𝑟𝑚𝑠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7126417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Rejection at 100 KHz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𝑃𝑆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𝐾𝐻𝑧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096728574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Rejection at 10 MHz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𝑃𝑆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𝑀𝐻𝑧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7610164"/>
                      </a:ext>
                    </a:extLst>
                  </a:tr>
                  <a:tr h="3321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Area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mm</a:t>
                          </a:r>
                          <a:r>
                            <a:rPr lang="en-US" sz="1100" baseline="300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4749625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Startup Time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𝑠𝑡𝑎𝑟𝑡𝑢𝑝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𝑠𝑒𝑐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1048333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Untrimmed Output Voltage Accuracy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𝑉𝑜𝑢𝑡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±5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0842862"/>
                      </a:ext>
                    </a:extLst>
                  </a:tr>
                  <a:tr h="33375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Trimmed Output Voltage Accuracy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𝑉𝑜𝑢𝑡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±1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45108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5806236-A802-1E20-FEDF-CA1E106109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2754600"/>
                  </p:ext>
                </p:extLst>
              </p:nvPr>
            </p:nvGraphicFramePr>
            <p:xfrm>
              <a:off x="1099128" y="1362648"/>
              <a:ext cx="9993744" cy="4335326"/>
            </p:xfrm>
            <a:graphic>
              <a:graphicData uri="http://schemas.openxmlformats.org/drawingml/2006/table">
                <a:tbl>
                  <a:tblPr firstRow="1" firstCol="1" lastRow="1" lastCol="1" bandRow="1" bandCol="1"/>
                  <a:tblGrid>
                    <a:gridCol w="2787138">
                      <a:extLst>
                        <a:ext uri="{9D8B030D-6E8A-4147-A177-3AD203B41FA5}">
                          <a16:colId xmlns:a16="http://schemas.microsoft.com/office/drawing/2014/main" val="94861951"/>
                        </a:ext>
                      </a:extLst>
                    </a:gridCol>
                    <a:gridCol w="1012728">
                      <a:extLst>
                        <a:ext uri="{9D8B030D-6E8A-4147-A177-3AD203B41FA5}">
                          <a16:colId xmlns:a16="http://schemas.microsoft.com/office/drawing/2014/main" val="384726690"/>
                        </a:ext>
                      </a:extLst>
                    </a:gridCol>
                    <a:gridCol w="597167">
                      <a:extLst>
                        <a:ext uri="{9D8B030D-6E8A-4147-A177-3AD203B41FA5}">
                          <a16:colId xmlns:a16="http://schemas.microsoft.com/office/drawing/2014/main" val="4226124615"/>
                        </a:ext>
                      </a:extLst>
                    </a:gridCol>
                    <a:gridCol w="551232">
                      <a:extLst>
                        <a:ext uri="{9D8B030D-6E8A-4147-A177-3AD203B41FA5}">
                          <a16:colId xmlns:a16="http://schemas.microsoft.com/office/drawing/2014/main" val="2881932615"/>
                        </a:ext>
                      </a:extLst>
                    </a:gridCol>
                    <a:gridCol w="564051">
                      <a:extLst>
                        <a:ext uri="{9D8B030D-6E8A-4147-A177-3AD203B41FA5}">
                          <a16:colId xmlns:a16="http://schemas.microsoft.com/office/drawing/2014/main" val="1677994399"/>
                        </a:ext>
                      </a:extLst>
                    </a:gridCol>
                    <a:gridCol w="738180">
                      <a:extLst>
                        <a:ext uri="{9D8B030D-6E8A-4147-A177-3AD203B41FA5}">
                          <a16:colId xmlns:a16="http://schemas.microsoft.com/office/drawing/2014/main" val="1104477893"/>
                        </a:ext>
                      </a:extLst>
                    </a:gridCol>
                    <a:gridCol w="3743248">
                      <a:extLst>
                        <a:ext uri="{9D8B030D-6E8A-4147-A177-3AD203B41FA5}">
                          <a16:colId xmlns:a16="http://schemas.microsoft.com/office/drawing/2014/main" val="2271310946"/>
                        </a:ext>
                      </a:extLst>
                    </a:gridCol>
                  </a:tblGrid>
                  <a:tr h="36021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Name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Specification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90494866"/>
                      </a:ext>
                    </a:extLst>
                  </a:tr>
                  <a:tr h="3337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Min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Typ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Units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Comments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7907688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Voltage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VDD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1.2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3.3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Wide range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9585243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Temperature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Temp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-40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0413" t="-309091" r="-511570" b="-8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462481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Output Voltage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449" t="-416667" r="-611377" b="-8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1529213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Line Regulation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449" t="-516667" r="-611377" b="-7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0413" t="-516667" r="-511570" b="-7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1123414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Output Noise (10Hz – 10KHz)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449" t="-616667" r="-611377" b="-6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0413" t="-616667" r="-511570" b="-6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7126417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Rejection at 100 KHz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449" t="-703636" r="-611377" b="-5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96728574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Rejection at 10 MHz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449" t="-818519" r="-611377" b="-4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7610164"/>
                      </a:ext>
                    </a:extLst>
                  </a:tr>
                  <a:tr h="3321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Area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mm</a:t>
                          </a:r>
                          <a:r>
                            <a:rPr lang="en-US" sz="1100" baseline="300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4749625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Startup Time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449" t="-1020370" r="-611377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0413" t="-1020370" r="-51157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1048333"/>
                      </a:ext>
                    </a:extLst>
                  </a:tr>
                  <a:tr h="33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Untrimmed Output Voltage Accuracy 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449" t="-1120370" r="-611377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6344" t="-1120370" r="-795699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0413" t="-1120370" r="-511570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0842862"/>
                      </a:ext>
                    </a:extLst>
                  </a:tr>
                  <a:tr h="33375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Trimmed Output Voltage Accuracy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449" t="-1198182" r="-611377" b="-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6344" t="-1198182" r="-795699" b="-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0413" t="-1198182" r="-511570" b="-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45108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4AC1F-BDCB-EF7B-DD9A-A6A7A8CD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F3DF63-5455-50A9-5208-8F110A27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5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6FC86-71BA-C7BC-BEC3-5A40717E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0EE2EE-FC2F-99AF-C988-5DE14899B653}"/>
              </a:ext>
            </a:extLst>
          </p:cNvPr>
          <p:cNvSpPr txBox="1"/>
          <p:nvPr/>
        </p:nvSpPr>
        <p:spPr>
          <a:xfrm>
            <a:off x="1743075" y="396525"/>
            <a:ext cx="7894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 (Core design)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E1697-5850-8D54-DB9B-CAE12FE84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24BCA9-AC3D-897A-6A06-53E279525376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4/14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2141A16-DC88-DC62-278C-10EAB320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1F1DFE-E5B0-1102-1D4E-39D5B1AD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6</a:t>
            </a:fld>
            <a:endParaRPr lang="en-US"/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04D4A762-EBE2-B14C-4C96-7B6470C279FA}"/>
              </a:ext>
            </a:extLst>
          </p:cNvPr>
          <p:cNvSpPr txBox="1">
            <a:spLocks/>
          </p:cNvSpPr>
          <p:nvPr/>
        </p:nvSpPr>
        <p:spPr>
          <a:xfrm>
            <a:off x="838200" y="1906144"/>
            <a:ext cx="10515600" cy="3618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666825-BAC6-C569-A06A-4ECFE9307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664" y="1467904"/>
            <a:ext cx="4779099" cy="4888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0">
                <a:extLst>
                  <a:ext uri="{FF2B5EF4-FFF2-40B4-BE49-F238E27FC236}">
                    <a16:creationId xmlns:a16="http://schemas.microsoft.com/office/drawing/2014/main" id="{350F2FD6-D47D-4C8E-3FF4-832B6FFB5A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773" y="1771751"/>
                <a:ext cx="10515600" cy="42194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Topology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Cascode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banba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architecture?</a:t>
                </a: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Devices flavors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Mosfets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BJTs</a:t>
                </a: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Resistors values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4,7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define the current consumption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Tuning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𝑃𝑇𝐴𝑇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𝑣𝑜𝑙𝑡𝑎𝑔𝑒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𝑠𝑙𝑜𝑝𝑒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𝐶𝑇𝐴𝑇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𝑣𝑜𝑙𝑡𝑎𝑔𝑒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𝑠𝑙𝑜𝑝𝑒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7,4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=800 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𝑚𝑉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Capacitors flavor and values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Stability, PSR and startup time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0">
                <a:extLst>
                  <a:ext uri="{FF2B5EF4-FFF2-40B4-BE49-F238E27FC236}">
                    <a16:creationId xmlns:a16="http://schemas.microsoft.com/office/drawing/2014/main" id="{350F2FD6-D47D-4C8E-3FF4-832B6FFB5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73" y="1771751"/>
                <a:ext cx="10515600" cy="4219473"/>
              </a:xfrm>
              <a:prstGeom prst="rect">
                <a:avLst/>
              </a:prstGeom>
              <a:blipFill>
                <a:blip r:embed="rId4"/>
                <a:stretch>
                  <a:fillRect l="-812" t="-2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71BF4F3-2D1D-7866-9EEE-EF4ABB135071}"/>
              </a:ext>
            </a:extLst>
          </p:cNvPr>
          <p:cNvSpPr/>
          <p:nvPr/>
        </p:nvSpPr>
        <p:spPr>
          <a:xfrm>
            <a:off x="7061200" y="5201920"/>
            <a:ext cx="558800" cy="760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B484EE-BE6E-24A5-1362-C098E73F321C}"/>
              </a:ext>
            </a:extLst>
          </p:cNvPr>
          <p:cNvSpPr/>
          <p:nvPr/>
        </p:nvSpPr>
        <p:spPr>
          <a:xfrm>
            <a:off x="9364389" y="5179611"/>
            <a:ext cx="558800" cy="760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87D235-7901-E644-C560-073DF2D16C91}"/>
              </a:ext>
            </a:extLst>
          </p:cNvPr>
          <p:cNvSpPr/>
          <p:nvPr/>
        </p:nvSpPr>
        <p:spPr>
          <a:xfrm>
            <a:off x="8882276" y="5211559"/>
            <a:ext cx="558800" cy="6618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988D31-1171-6E0B-A8A5-AB12677B28C5}"/>
              </a:ext>
            </a:extLst>
          </p:cNvPr>
          <p:cNvSpPr/>
          <p:nvPr/>
        </p:nvSpPr>
        <p:spPr>
          <a:xfrm>
            <a:off x="10017736" y="5300879"/>
            <a:ext cx="558800" cy="6618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B1EC82-9D09-855F-F188-A29EFA49FBBB}"/>
              </a:ext>
            </a:extLst>
          </p:cNvPr>
          <p:cNvSpPr/>
          <p:nvPr/>
        </p:nvSpPr>
        <p:spPr>
          <a:xfrm>
            <a:off x="10542530" y="5378254"/>
            <a:ext cx="558800" cy="6618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D36057-5D40-0240-3EA7-DFE5FB37D26E}"/>
              </a:ext>
            </a:extLst>
          </p:cNvPr>
          <p:cNvSpPr/>
          <p:nvPr/>
        </p:nvSpPr>
        <p:spPr>
          <a:xfrm>
            <a:off x="9975333" y="1644963"/>
            <a:ext cx="558800" cy="6618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AD6912-97DE-F273-17F0-8743C6CE6EBC}"/>
              </a:ext>
            </a:extLst>
          </p:cNvPr>
          <p:cNvSpPr/>
          <p:nvPr/>
        </p:nvSpPr>
        <p:spPr>
          <a:xfrm>
            <a:off x="7679963" y="5767616"/>
            <a:ext cx="1932346" cy="5274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2F749D-4133-E7E1-AC30-60E71D9EB239}"/>
              </a:ext>
            </a:extLst>
          </p:cNvPr>
          <p:cNvSpPr/>
          <p:nvPr/>
        </p:nvSpPr>
        <p:spPr>
          <a:xfrm>
            <a:off x="7508730" y="2414816"/>
            <a:ext cx="3845070" cy="1212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5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6" grpId="0" uiExpand="1" build="p"/>
      <p:bldP spid="17" grpId="0" uiExpand="1" animBg="1"/>
      <p:bldP spid="17" grpId="1" animBg="1"/>
      <p:bldP spid="18" grpId="0" uiExpand="1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 animBg="1"/>
      <p:bldP spid="23" grpId="1" animBg="1"/>
      <p:bldP spid="24" grpId="0" animBg="1"/>
      <p:bldP spid="2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5EAD-60F5-D677-D82B-DFC70EC6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862DFE-D98D-6AA0-3CFF-A7F4F5726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7E5611-EFD2-0325-4FFB-523E7CA15C1E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014B39B-7879-1E0F-4E98-AD58D66D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E89BB9-E74C-3EAE-3A23-ED3F63E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248A1-6466-0BF3-4DC4-4CB6C9FB3D18}"/>
              </a:ext>
            </a:extLst>
          </p:cNvPr>
          <p:cNvSpPr txBox="1"/>
          <p:nvPr/>
        </p:nvSpPr>
        <p:spPr>
          <a:xfrm>
            <a:off x="1743075" y="396525"/>
            <a:ext cx="7894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 (OTA design)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19C3D761-4396-2FFA-5F21-8209435AD080}"/>
              </a:ext>
            </a:extLst>
          </p:cNvPr>
          <p:cNvSpPr txBox="1">
            <a:spLocks/>
          </p:cNvSpPr>
          <p:nvPr/>
        </p:nvSpPr>
        <p:spPr>
          <a:xfrm>
            <a:off x="521709" y="2161803"/>
            <a:ext cx="10515600" cy="3618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NMOS input pair 5T-OTA?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Self-biasing branch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C98157-F84D-7B04-E1C8-A7D5612F95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7258"/>
          <a:stretch/>
        </p:blipFill>
        <p:spPr>
          <a:xfrm>
            <a:off x="7995009" y="1369848"/>
            <a:ext cx="3286124" cy="484568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12A06D1-6465-2309-265A-D8BA38BB5B1E}"/>
              </a:ext>
            </a:extLst>
          </p:cNvPr>
          <p:cNvSpPr/>
          <p:nvPr/>
        </p:nvSpPr>
        <p:spPr>
          <a:xfrm>
            <a:off x="9166225" y="2002845"/>
            <a:ext cx="2114908" cy="4026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27F681-B44A-B23D-9760-4234E6A0EA8E}"/>
              </a:ext>
            </a:extLst>
          </p:cNvPr>
          <p:cNvSpPr/>
          <p:nvPr/>
        </p:nvSpPr>
        <p:spPr>
          <a:xfrm>
            <a:off x="8105775" y="2020987"/>
            <a:ext cx="1060450" cy="4008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animBg="1"/>
      <p:bldP spid="18" grpId="0" uiExpand="1" animBg="1"/>
      <p:bldP spid="1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5EAD-60F5-D677-D82B-DFC70EC6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34A241-F663-0F16-87A5-17BCEB684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749" y="1351072"/>
            <a:ext cx="3522837" cy="4846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62DFE-D98D-6AA0-3CFF-A7F4F5726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7E5611-EFD2-0325-4FFB-523E7CA15C1E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014B39B-7879-1E0F-4E98-AD58D66D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E89BB9-E74C-3EAE-3A23-ED3F63E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248A1-6466-0BF3-4DC4-4CB6C9FB3D18}"/>
              </a:ext>
            </a:extLst>
          </p:cNvPr>
          <p:cNvSpPr txBox="1"/>
          <p:nvPr/>
        </p:nvSpPr>
        <p:spPr>
          <a:xfrm>
            <a:off x="1743075" y="396525"/>
            <a:ext cx="7894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 (Startup design)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19C3D761-4396-2FFA-5F21-8209435AD080}"/>
              </a:ext>
            </a:extLst>
          </p:cNvPr>
          <p:cNvSpPr txBox="1">
            <a:spLocks/>
          </p:cNvSpPr>
          <p:nvPr/>
        </p:nvSpPr>
        <p:spPr>
          <a:xfrm>
            <a:off x="521709" y="2161803"/>
            <a:ext cx="10515600" cy="3618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circuit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Biasing branch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A06D1-6465-2309-265A-D8BA38BB5B1E}"/>
              </a:ext>
            </a:extLst>
          </p:cNvPr>
          <p:cNvSpPr/>
          <p:nvPr/>
        </p:nvSpPr>
        <p:spPr>
          <a:xfrm>
            <a:off x="9696450" y="1369848"/>
            <a:ext cx="1657350" cy="48275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27F681-B44A-B23D-9760-4234E6A0EA8E}"/>
              </a:ext>
            </a:extLst>
          </p:cNvPr>
          <p:cNvSpPr/>
          <p:nvPr/>
        </p:nvSpPr>
        <p:spPr>
          <a:xfrm>
            <a:off x="8191500" y="2477156"/>
            <a:ext cx="1657350" cy="34619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5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animBg="1"/>
      <p:bldP spid="18" grpId="0" uiExpand="1" animBg="1"/>
      <p:bldP spid="1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5EAD-60F5-D677-D82B-DFC70EC6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DBE316F-C5D0-1837-B0FD-E1ECF17340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315"/>
          <a:stretch/>
        </p:blipFill>
        <p:spPr>
          <a:xfrm>
            <a:off x="6996336" y="1446906"/>
            <a:ext cx="4666277" cy="4846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62DFE-D98D-6AA0-3CFF-A7F4F5726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7E5611-EFD2-0325-4FFB-523E7CA15C1E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014B39B-7879-1E0F-4E98-AD58D66D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E89BB9-E74C-3EAE-3A23-ED3F63EF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248A1-6466-0BF3-4DC4-4CB6C9FB3D18}"/>
              </a:ext>
            </a:extLst>
          </p:cNvPr>
          <p:cNvSpPr txBox="1"/>
          <p:nvPr/>
        </p:nvSpPr>
        <p:spPr>
          <a:xfrm>
            <a:off x="1743075" y="396525"/>
            <a:ext cx="7894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 (Trimming)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0">
                <a:extLst>
                  <a:ext uri="{FF2B5EF4-FFF2-40B4-BE49-F238E27FC236}">
                    <a16:creationId xmlns:a16="http://schemas.microsoft.com/office/drawing/2014/main" id="{19C3D761-4396-2FFA-5F21-8209435AD0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709" y="2161803"/>
                <a:ext cx="10515600" cy="36183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Single-bit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trimming (Temperature Coeff.) </a:t>
                </a: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5-bits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trimming</a:t>
                </a: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12.5mV step</a:t>
                </a:r>
              </a:p>
            </p:txBody>
          </p:sp>
        </mc:Choice>
        <mc:Fallback xmlns="">
          <p:sp>
            <p:nvSpPr>
              <p:cNvPr id="13" name="Content Placeholder 20">
                <a:extLst>
                  <a:ext uri="{FF2B5EF4-FFF2-40B4-BE49-F238E27FC236}">
                    <a16:creationId xmlns:a16="http://schemas.microsoft.com/office/drawing/2014/main" id="{19C3D761-4396-2FFA-5F21-8209435AD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9" y="2161803"/>
                <a:ext cx="10515600" cy="3618344"/>
              </a:xfrm>
              <a:prstGeom prst="rect">
                <a:avLst/>
              </a:prstGeom>
              <a:blipFill>
                <a:blip r:embed="rId5"/>
                <a:stretch>
                  <a:fillRect l="-812" t="-2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512A06D1-6465-2309-265A-D8BA38BB5B1E}"/>
              </a:ext>
            </a:extLst>
          </p:cNvPr>
          <p:cNvSpPr/>
          <p:nvPr/>
        </p:nvSpPr>
        <p:spPr>
          <a:xfrm>
            <a:off x="7781925" y="1571527"/>
            <a:ext cx="3571875" cy="2381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27F681-B44A-B23D-9760-4234E6A0EA8E}"/>
              </a:ext>
            </a:extLst>
          </p:cNvPr>
          <p:cNvSpPr/>
          <p:nvPr/>
        </p:nvSpPr>
        <p:spPr>
          <a:xfrm>
            <a:off x="6996335" y="3848100"/>
            <a:ext cx="4666277" cy="1266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EED4E9-62FD-097B-8761-E95759495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321" y="1446906"/>
            <a:ext cx="3507845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9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2553929" y="398035"/>
            <a:ext cx="7084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Challenges</a:t>
            </a:r>
            <a:endParaRPr 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0">
                <a:extLst>
                  <a:ext uri="{FF2B5EF4-FFF2-40B4-BE49-F238E27FC236}">
                    <a16:creationId xmlns:a16="http://schemas.microsoft.com/office/drawing/2014/main" id="{84043493-EEB2-897F-E3FA-DAD6CD837E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709" y="2161803"/>
                <a:ext cx="10515600" cy="36183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 regulation spec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Large supply range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Cascode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optimal biasing points</a:t>
                </a:r>
              </a:p>
              <a:p>
                <a:pPr lvl="2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1.2V SS and 3.3V corners</a:t>
                </a: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 spec 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L for mirrors to enhance flicker noise and optimal W for thermal and flicker equality, and increasing current increases gm so both noise components decrease.</a:t>
                </a:r>
              </a:p>
              <a:p>
                <a:pPr lvl="2" algn="l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  <m:sup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𝐾𝑇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</m:den>
                        </m:f>
                      </m:e>
                    </m:d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=0.8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all parameters are for the mirror devices.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OTA input pair sizing for flicker noise</a:t>
                </a:r>
              </a:p>
              <a:p>
                <a:pPr lvl="1" algn="l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Still not achieved! Used more power consumption</a:t>
                </a:r>
              </a:p>
            </p:txBody>
          </p:sp>
        </mc:Choice>
        <mc:Fallback>
          <p:sp>
            <p:nvSpPr>
              <p:cNvPr id="12" name="Content Placeholder 20">
                <a:extLst>
                  <a:ext uri="{FF2B5EF4-FFF2-40B4-BE49-F238E27FC236}">
                    <a16:creationId xmlns:a16="http://schemas.microsoft.com/office/drawing/2014/main" id="{84043493-EEB2-897F-E3FA-DAD6CD837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9" y="2161803"/>
                <a:ext cx="10515600" cy="3618344"/>
              </a:xfrm>
              <a:prstGeom prst="rect">
                <a:avLst/>
              </a:prstGeom>
              <a:blipFill>
                <a:blip r:embed="rId3"/>
                <a:stretch>
                  <a:fillRect l="-812" t="-2361" r="-580" b="-1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02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106732" y="2546627"/>
            <a:ext cx="99785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Content Placeholder 20">
            <a:extLst>
              <a:ext uri="{FF2B5EF4-FFF2-40B4-BE49-F238E27FC236}">
                <a16:creationId xmlns:a16="http://schemas.microsoft.com/office/drawing/2014/main" id="{84043493-EEB2-897F-E3FA-DAD6CD837ED7}"/>
              </a:ext>
            </a:extLst>
          </p:cNvPr>
          <p:cNvSpPr txBox="1">
            <a:spLocks/>
          </p:cNvSpPr>
          <p:nvPr/>
        </p:nvSpPr>
        <p:spPr>
          <a:xfrm>
            <a:off x="521709" y="2161803"/>
            <a:ext cx="10515600" cy="3618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06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Untrimmed output variations vs temperature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24" y="1875790"/>
            <a:ext cx="11634952" cy="38747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889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Trimmed output variations vs temperature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524" y="1877800"/>
            <a:ext cx="11634951" cy="38707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073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Untrimmed TC corners (in ppm/</a:t>
            </a:r>
            <a:r>
              <a:rPr lang="en-US" sz="32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vs VDD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524" y="1877800"/>
            <a:ext cx="11634951" cy="387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195D6177-2B53-C378-6C2F-EC23924E1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5924" y="3808615"/>
            <a:ext cx="972791" cy="144430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tt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ff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76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Trimmed TC corners (in ppm/</a:t>
            </a:r>
            <a:r>
              <a:rPr lang="en-US" sz="32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vs VDD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524" y="1877800"/>
            <a:ext cx="11634951" cy="38707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464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gain corners vs frequency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525" y="1877800"/>
            <a:ext cx="11634948" cy="387074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Box 2">
            <a:extLst>
              <a:ext uri="{FF2B5EF4-FFF2-40B4-BE49-F238E27FC236}">
                <a16:creationId xmlns:a16="http://schemas.microsoft.com/office/drawing/2014/main" id="{645DC09D-2216-174C-897B-5B5186FC5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520" y="2260600"/>
            <a:ext cx="2908706" cy="76771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gain magnitude (in dB)</a:t>
            </a:r>
            <a:endParaRPr lang="en-US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gain phase (in degrees)</a:t>
            </a:r>
            <a:endParaRPr lang="en-US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81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 corners (in degrees) vs VDD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525" y="1877800"/>
            <a:ext cx="11634948" cy="387074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1060D18F-7B1A-FF39-5FC8-5DF9F27C5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1049" y="2223655"/>
            <a:ext cx="972791" cy="144430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tt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ff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84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startup time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526" y="1877800"/>
            <a:ext cx="11634945" cy="38707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529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Vnrms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corners (in V) vs VDD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19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526" y="1877800"/>
            <a:ext cx="11634945" cy="387074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Box 2">
            <a:extLst>
              <a:ext uri="{FF2B5EF4-FFF2-40B4-BE49-F238E27FC236}">
                <a16:creationId xmlns:a16="http://schemas.microsoft.com/office/drawing/2014/main" id="{F758FDB6-DE33-DA97-1CE0-852A74919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1049" y="2368867"/>
            <a:ext cx="972791" cy="144430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tt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ff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19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PSR @100 KHz corners (in dB) vs VDD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20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5539" y="1877800"/>
            <a:ext cx="11600919" cy="387074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Box 2">
            <a:extLst>
              <a:ext uri="{FF2B5EF4-FFF2-40B4-BE49-F238E27FC236}">
                <a16:creationId xmlns:a16="http://schemas.microsoft.com/office/drawing/2014/main" id="{F758FDB6-DE33-DA97-1CE0-852A74919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1049" y="2368867"/>
            <a:ext cx="972791" cy="144430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tt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ff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4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PSR @10 MHz corners (in dB) vs VDD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21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5539" y="1883459"/>
            <a:ext cx="11600919" cy="385942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Box 2">
            <a:extLst>
              <a:ext uri="{FF2B5EF4-FFF2-40B4-BE49-F238E27FC236}">
                <a16:creationId xmlns:a16="http://schemas.microsoft.com/office/drawing/2014/main" id="{F758FDB6-DE33-DA97-1CE0-852A74919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1049" y="2368867"/>
            <a:ext cx="972791" cy="144430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tt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ff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09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1653238" y="493078"/>
            <a:ext cx="825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regulation corners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22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39D4-D1FF-B22D-2C67-95F0412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5539" y="1883459"/>
            <a:ext cx="11600918" cy="385942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Box 2">
            <a:extLst>
              <a:ext uri="{FF2B5EF4-FFF2-40B4-BE49-F238E27FC236}">
                <a16:creationId xmlns:a16="http://schemas.microsoft.com/office/drawing/2014/main" id="{F758FDB6-DE33-DA97-1CE0-852A74919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8488" y="2897187"/>
            <a:ext cx="972791" cy="144430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tt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ff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22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2FE-9AC9-4D41-BFC6-929770B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152E4-B04A-3B76-1263-696F17809491}"/>
              </a:ext>
            </a:extLst>
          </p:cNvPr>
          <p:cNvSpPr txBox="1"/>
          <p:nvPr/>
        </p:nvSpPr>
        <p:spPr>
          <a:xfrm>
            <a:off x="2553929" y="398035"/>
            <a:ext cx="7084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Specs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75EED-EE67-437D-51F7-3665AB0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B4330-59FE-14EE-CA85-B4468696237D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6/14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9BFACE-9ADC-DD3F-F9E5-119A589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FF00C7-186A-1284-853A-B57ECB45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8CD6F6B-6F3A-8E5F-693C-260DA50F54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6123241"/>
                  </p:ext>
                </p:extLst>
              </p:nvPr>
            </p:nvGraphicFramePr>
            <p:xfrm>
              <a:off x="359024" y="1308381"/>
              <a:ext cx="11578975" cy="515807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52760">
                      <a:extLst>
                        <a:ext uri="{9D8B030D-6E8A-4147-A177-3AD203B41FA5}">
                          <a16:colId xmlns:a16="http://schemas.microsoft.com/office/drawing/2014/main" val="675798436"/>
                        </a:ext>
                      </a:extLst>
                    </a:gridCol>
                    <a:gridCol w="1616800">
                      <a:extLst>
                        <a:ext uri="{9D8B030D-6E8A-4147-A177-3AD203B41FA5}">
                          <a16:colId xmlns:a16="http://schemas.microsoft.com/office/drawing/2014/main" val="2639223504"/>
                        </a:ext>
                      </a:extLst>
                    </a:gridCol>
                    <a:gridCol w="706901">
                      <a:extLst>
                        <a:ext uri="{9D8B030D-6E8A-4147-A177-3AD203B41FA5}">
                          <a16:colId xmlns:a16="http://schemas.microsoft.com/office/drawing/2014/main" val="4198652208"/>
                        </a:ext>
                      </a:extLst>
                    </a:gridCol>
                    <a:gridCol w="889240">
                      <a:extLst>
                        <a:ext uri="{9D8B030D-6E8A-4147-A177-3AD203B41FA5}">
                          <a16:colId xmlns:a16="http://schemas.microsoft.com/office/drawing/2014/main" val="1903274821"/>
                        </a:ext>
                      </a:extLst>
                    </a:gridCol>
                    <a:gridCol w="889240">
                      <a:extLst>
                        <a:ext uri="{9D8B030D-6E8A-4147-A177-3AD203B41FA5}">
                          <a16:colId xmlns:a16="http://schemas.microsoft.com/office/drawing/2014/main" val="3970130295"/>
                        </a:ext>
                      </a:extLst>
                    </a:gridCol>
                    <a:gridCol w="787739">
                      <a:extLst>
                        <a:ext uri="{9D8B030D-6E8A-4147-A177-3AD203B41FA5}">
                          <a16:colId xmlns:a16="http://schemas.microsoft.com/office/drawing/2014/main" val="4230600520"/>
                        </a:ext>
                      </a:extLst>
                    </a:gridCol>
                    <a:gridCol w="787739">
                      <a:extLst>
                        <a:ext uri="{9D8B030D-6E8A-4147-A177-3AD203B41FA5}">
                          <a16:colId xmlns:a16="http://schemas.microsoft.com/office/drawing/2014/main" val="3387598448"/>
                        </a:ext>
                      </a:extLst>
                    </a:gridCol>
                    <a:gridCol w="1374278">
                      <a:extLst>
                        <a:ext uri="{9D8B030D-6E8A-4147-A177-3AD203B41FA5}">
                          <a16:colId xmlns:a16="http://schemas.microsoft.com/office/drawing/2014/main" val="3973011284"/>
                        </a:ext>
                      </a:extLst>
                    </a:gridCol>
                    <a:gridCol w="1374278">
                      <a:extLst>
                        <a:ext uri="{9D8B030D-6E8A-4147-A177-3AD203B41FA5}">
                          <a16:colId xmlns:a16="http://schemas.microsoft.com/office/drawing/2014/main" val="1463530775"/>
                        </a:ext>
                      </a:extLst>
                    </a:gridCol>
                  </a:tblGrid>
                  <a:tr h="169601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Name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Specification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Simulation Result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1215904"/>
                      </a:ext>
                    </a:extLst>
                  </a:tr>
                  <a:tr h="35076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Min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Typ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Min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Typ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Units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3694537"/>
                      </a:ext>
                    </a:extLst>
                  </a:tr>
                  <a:tr h="16960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Voltage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VDD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1.2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3.3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1.2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3.3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0901937"/>
                      </a:ext>
                    </a:extLst>
                  </a:tr>
                  <a:tr h="16960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Temperature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Temp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-40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-40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96536827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Output Voltage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𝑜𝑢𝑡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0.429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0.823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5339815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Consumption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𝑃𝑊𝑅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40.66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59.63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3435577"/>
                      </a:ext>
                    </a:extLst>
                  </a:tr>
                  <a:tr h="35882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Line Regulation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𝑉𝑜𝑢𝑡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/∆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𝑉𝐷𝐷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3132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6560672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Output Noise (10Hz – 10KHz)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𝑛𝑟𝑚𝑠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50.33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6429810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Rejection at 100 KHz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𝑃𝑆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𝐾𝐻𝑧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40.09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0380590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Rejection at 10 MHz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𝑃𝑆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𝑀𝐻𝑧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44.17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3040116"/>
                      </a:ext>
                    </a:extLst>
                  </a:tr>
                  <a:tr h="16960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Area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0.037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mm</a:t>
                          </a:r>
                          <a:r>
                            <a:rPr lang="en-US" sz="1200" baseline="300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3681676"/>
                      </a:ext>
                    </a:extLst>
                  </a:tr>
                  <a:tr h="19587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Startup Time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𝑠𝑡𝑎𝑟𝑡𝑢𝑝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&lt; 50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𝑠𝑒𝑐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1643373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Untrimmed Output Voltage Accuracy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𝑉𝑜𝑢𝑡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±5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±3.5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91502741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Trimmed Output Voltage Accuracy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𝑉𝑜𝑢𝑡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±1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±0.94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2415630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Untrimmed Temperature Coefficient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𝑇𝐶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128.1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ppm/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94994758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Trimmed Temperature Coefficient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𝑇𝐶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72.22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ppm/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69219060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Figure of Merit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𝐹𝑂𝑀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1.421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ppm.V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C.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7686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8CD6F6B-6F3A-8E5F-693C-260DA50F54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6123241"/>
                  </p:ext>
                </p:extLst>
              </p:nvPr>
            </p:nvGraphicFramePr>
            <p:xfrm>
              <a:off x="359024" y="1308381"/>
              <a:ext cx="11578975" cy="515807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52760">
                      <a:extLst>
                        <a:ext uri="{9D8B030D-6E8A-4147-A177-3AD203B41FA5}">
                          <a16:colId xmlns:a16="http://schemas.microsoft.com/office/drawing/2014/main" val="675798436"/>
                        </a:ext>
                      </a:extLst>
                    </a:gridCol>
                    <a:gridCol w="1616800">
                      <a:extLst>
                        <a:ext uri="{9D8B030D-6E8A-4147-A177-3AD203B41FA5}">
                          <a16:colId xmlns:a16="http://schemas.microsoft.com/office/drawing/2014/main" val="2639223504"/>
                        </a:ext>
                      </a:extLst>
                    </a:gridCol>
                    <a:gridCol w="706901">
                      <a:extLst>
                        <a:ext uri="{9D8B030D-6E8A-4147-A177-3AD203B41FA5}">
                          <a16:colId xmlns:a16="http://schemas.microsoft.com/office/drawing/2014/main" val="4198652208"/>
                        </a:ext>
                      </a:extLst>
                    </a:gridCol>
                    <a:gridCol w="889240">
                      <a:extLst>
                        <a:ext uri="{9D8B030D-6E8A-4147-A177-3AD203B41FA5}">
                          <a16:colId xmlns:a16="http://schemas.microsoft.com/office/drawing/2014/main" val="1903274821"/>
                        </a:ext>
                      </a:extLst>
                    </a:gridCol>
                    <a:gridCol w="889240">
                      <a:extLst>
                        <a:ext uri="{9D8B030D-6E8A-4147-A177-3AD203B41FA5}">
                          <a16:colId xmlns:a16="http://schemas.microsoft.com/office/drawing/2014/main" val="3970130295"/>
                        </a:ext>
                      </a:extLst>
                    </a:gridCol>
                    <a:gridCol w="787739">
                      <a:extLst>
                        <a:ext uri="{9D8B030D-6E8A-4147-A177-3AD203B41FA5}">
                          <a16:colId xmlns:a16="http://schemas.microsoft.com/office/drawing/2014/main" val="4230600520"/>
                        </a:ext>
                      </a:extLst>
                    </a:gridCol>
                    <a:gridCol w="787739">
                      <a:extLst>
                        <a:ext uri="{9D8B030D-6E8A-4147-A177-3AD203B41FA5}">
                          <a16:colId xmlns:a16="http://schemas.microsoft.com/office/drawing/2014/main" val="3387598448"/>
                        </a:ext>
                      </a:extLst>
                    </a:gridCol>
                    <a:gridCol w="1374278">
                      <a:extLst>
                        <a:ext uri="{9D8B030D-6E8A-4147-A177-3AD203B41FA5}">
                          <a16:colId xmlns:a16="http://schemas.microsoft.com/office/drawing/2014/main" val="3973011284"/>
                        </a:ext>
                      </a:extLst>
                    </a:gridCol>
                    <a:gridCol w="1374278">
                      <a:extLst>
                        <a:ext uri="{9D8B030D-6E8A-4147-A177-3AD203B41FA5}">
                          <a16:colId xmlns:a16="http://schemas.microsoft.com/office/drawing/2014/main" val="1463530775"/>
                        </a:ext>
                      </a:extLst>
                    </a:gridCol>
                  </a:tblGrid>
                  <a:tr h="182499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Name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Specification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Simulation Result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1215904"/>
                      </a:ext>
                    </a:extLst>
                  </a:tr>
                  <a:tr h="35076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Min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Typ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Min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Typ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Units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3694537"/>
                      </a:ext>
                    </a:extLst>
                  </a:tr>
                  <a:tr h="1824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Voltage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VDD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1.2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3.3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1.2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3.3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0901937"/>
                      </a:ext>
                    </a:extLst>
                  </a:tr>
                  <a:tr h="1824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Temperature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Temp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-40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-40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416667" r="-2212" b="-23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6536827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Output Voltage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271930" r="-423774" b="-1135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0.429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0.823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5339815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Consumption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365517" r="-423774" b="-10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40.66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59.63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365517" r="-2212" b="-10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435577"/>
                      </a:ext>
                    </a:extLst>
                  </a:tr>
                  <a:tr h="35882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Line Regulation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457627" r="-423774" b="-8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3132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457627" r="-2212" b="-8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560672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Output Noise (10Hz – 10KHz)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577193" r="-423774" b="-8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50.33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577193" r="-2212" b="-8298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6429810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Rejection at 100 KHz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665517" r="-423774" b="-7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40.09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0380590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Power Supply Rejection at 10 MHz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778947" r="-423774" b="-628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44.17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3040116"/>
                      </a:ext>
                    </a:extLst>
                  </a:tr>
                  <a:tr h="1824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Area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0.037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mm</a:t>
                          </a:r>
                          <a:r>
                            <a:rPr lang="en-US" sz="1200" baseline="300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3681676"/>
                      </a:ext>
                    </a:extLst>
                  </a:tr>
                  <a:tr h="2108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Startup Time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1517143" r="-423774" b="-8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&lt; 50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1517143" r="-2212" b="-8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643373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Untrimmed Output Voltage Accuracy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975862" r="-423774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17123" t="-975862" r="-489726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45333" t="-975862" r="-102667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975862" r="-2212" b="-4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1502741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Trimmed Output Voltage Accuracy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1094737" r="-423774" b="-3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17123" t="-1094737" r="-489726" b="-3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45333" t="-1094737" r="-102667" b="-3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1094737" r="-2212" b="-3122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2415630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Untrimmed Temperature Coefficient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1174138" r="-423774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128.1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1174138" r="-2212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4994758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Trimmed Temperature Coefficient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1296491" r="-423774" b="-1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72.22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1296491" r="-2212" b="-110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9219060"/>
                      </a:ext>
                    </a:extLst>
                  </a:tr>
                  <a:tr h="3507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Figure of Merit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6226" t="-1372414" r="-423774" b="-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1.421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316" marR="59316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16" marR="59316" marT="0" marB="0" anchor="ctr">
                        <a:lnL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D0D0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2035" t="-1372414" r="-2212" b="-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6866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359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F4BDD-C9F3-C572-FAA5-D0B9C67B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05871B-2FC0-B442-AC81-DDA6861DDE7B}"/>
              </a:ext>
            </a:extLst>
          </p:cNvPr>
          <p:cNvSpPr txBox="1"/>
          <p:nvPr/>
        </p:nvSpPr>
        <p:spPr>
          <a:xfrm>
            <a:off x="2309352" y="398035"/>
            <a:ext cx="7573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216247-30B2-1114-04B2-3EC1C52E8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071" y="458081"/>
            <a:ext cx="2125956" cy="7709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751132-C3C1-AA9C-873E-9CA3C433E40E}"/>
              </a:ext>
            </a:extLst>
          </p:cNvPr>
          <p:cNvSpPr txBox="1"/>
          <p:nvPr/>
        </p:nvSpPr>
        <p:spPr>
          <a:xfrm>
            <a:off x="11133226" y="6511101"/>
            <a:ext cx="105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14/14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3E3374-97E1-0E9A-3ACF-08393D513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4573" y="2267360"/>
            <a:ext cx="3319478" cy="32561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C97C02-1DD1-5410-2799-4F2ED09FA69D}"/>
              </a:ext>
            </a:extLst>
          </p:cNvPr>
          <p:cNvSpPr txBox="1"/>
          <p:nvPr/>
        </p:nvSpPr>
        <p:spPr>
          <a:xfrm>
            <a:off x="8084573" y="1758649"/>
            <a:ext cx="349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detailed report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9252B1B-ED24-6A38-9EA2-566F84F3C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296472"/>
              </p:ext>
            </p:extLst>
          </p:nvPr>
        </p:nvGraphicFramePr>
        <p:xfrm>
          <a:off x="787948" y="2260034"/>
          <a:ext cx="5308051" cy="2983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8051">
                  <a:extLst>
                    <a:ext uri="{9D8B030D-6E8A-4147-A177-3AD203B41FA5}">
                      <a16:colId xmlns:a16="http://schemas.microsoft.com/office/drawing/2014/main" val="3410624456"/>
                    </a:ext>
                  </a:extLst>
                </a:gridCol>
              </a:tblGrid>
              <a:tr h="40887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 by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246939"/>
                  </a:ext>
                </a:extLst>
              </a:tr>
              <a:tr h="4088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Mohamed Essam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918776"/>
                  </a:ext>
                </a:extLst>
              </a:tr>
              <a:tr h="4088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Bilal Ramadan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648705"/>
                  </a:ext>
                </a:extLst>
              </a:tr>
              <a:tr h="4088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Morad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Saad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761835"/>
                  </a:ext>
                </a:extLst>
              </a:tr>
              <a:tr h="667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Hazem Mostafa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0636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EC0E9-56A8-96C1-16BE-2A1E427B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September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49CBFA-DC8E-4F14-A5F0-51CE0466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832F-0168-4D30-85FD-BD789EFC8BA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9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A388DE-277E-439B-847B-C9BDF33F238C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820</Words>
  <Application>Microsoft Office PowerPoint</Application>
  <PresentationFormat>Widescreen</PresentationFormat>
  <Paragraphs>400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Bilal Ramadan</dc:creator>
  <cp:lastModifiedBy>بلال رمضان حلمى صميدة احمد</cp:lastModifiedBy>
  <cp:revision>125</cp:revision>
  <dcterms:created xsi:type="dcterms:W3CDTF">2024-10-08T04:07:11Z</dcterms:created>
  <dcterms:modified xsi:type="dcterms:W3CDTF">2025-09-30T15:45:19Z</dcterms:modified>
</cp:coreProperties>
</file>